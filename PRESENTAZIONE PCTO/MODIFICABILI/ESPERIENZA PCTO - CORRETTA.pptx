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9144000"/>
  <p:embeddedFontLst>
    <p:embeddedFont>
      <p:font typeface="Play"/>
      <p:regular r:id="rId13"/>
      <p:bold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Play-regular.fnt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font" Target="fonts/Play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tito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stazione sezione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e contenuti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ront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uota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to con didascali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magine con didascali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esto verticale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esto verticale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jpg"/><Relationship Id="rId4" Type="http://schemas.openxmlformats.org/officeDocument/2006/relationships/image" Target="../media/image1.jpg"/><Relationship Id="rId5" Type="http://schemas.openxmlformats.org/officeDocument/2006/relationships/image" Target="../media/image17.jpg"/><Relationship Id="rId6" Type="http://schemas.openxmlformats.org/officeDocument/2006/relationships/image" Target="../media/image19.png"/><Relationship Id="rId7" Type="http://schemas.openxmlformats.org/officeDocument/2006/relationships/hyperlink" Target="https://www.linkedin.com/in/mauro-baraldi-701383264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 txBox="1"/>
          <p:nvPr>
            <p:ph type="ctrTitle"/>
          </p:nvPr>
        </p:nvSpPr>
        <p:spPr>
          <a:xfrm>
            <a:off x="8593675" y="679721"/>
            <a:ext cx="3505200" cy="53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</a:pPr>
            <a:r>
              <a:rPr lang="en-US" sz="6200"/>
              <a:t>LA MIA ESPERIENZA PCTO IN AZIENDA</a:t>
            </a:r>
            <a:endParaRPr sz="6300"/>
          </a:p>
        </p:txBody>
      </p:sp>
      <p:grpSp>
        <p:nvGrpSpPr>
          <p:cNvPr id="86" name="Google Shape;86;p13"/>
          <p:cNvGrpSpPr/>
          <p:nvPr/>
        </p:nvGrpSpPr>
        <p:grpSpPr>
          <a:xfrm>
            <a:off x="329184" y="1"/>
            <a:ext cx="2446384" cy="5777808"/>
            <a:chOff x="329184" y="1"/>
            <a:chExt cx="524256" cy="5777808"/>
          </a:xfrm>
        </p:grpSpPr>
        <p:cxnSp>
          <p:nvCxnSpPr>
            <p:cNvPr id="87" name="Google Shape;87;p13"/>
            <p:cNvCxnSpPr/>
            <p:nvPr/>
          </p:nvCxnSpPr>
          <p:spPr>
            <a:xfrm rot="10800000">
              <a:off x="329184" y="5777809"/>
              <a:ext cx="521208" cy="0"/>
            </a:xfrm>
            <a:prstGeom prst="straightConnector1">
              <a:avLst/>
            </a:prstGeom>
            <a:noFill/>
            <a:ln cap="flat" cmpd="sng" w="152400">
              <a:solidFill>
                <a:schemeClr val="accent4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" name="Google Shape;88;p13"/>
            <p:cNvSpPr/>
            <p:nvPr/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9" name="Google Shape;89;p13"/>
          <p:cNvSpPr/>
          <p:nvPr/>
        </p:nvSpPr>
        <p:spPr>
          <a:xfrm>
            <a:off x="688623" y="679731"/>
            <a:ext cx="7682293" cy="5662878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rotWithShape="0" algn="t" dir="5400000" dist="127000">
              <a:srgbClr val="000000">
                <a:alpha val="1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ennecke-OMS S.P.A. | Hennecke GROUP - Macchine, impianti e tecnologie per  la lavorazione del poliuretano" id="90" name="Google Shape;90;p13"/>
          <p:cNvPicPr preferRelativeResize="0"/>
          <p:nvPr/>
        </p:nvPicPr>
        <p:blipFill rotWithShape="1">
          <a:blip r:embed="rId3">
            <a:alphaModFix/>
          </a:blip>
          <a:srcRect b="2" l="0" r="46547" t="0"/>
          <a:stretch/>
        </p:blipFill>
        <p:spPr>
          <a:xfrm>
            <a:off x="996363" y="972235"/>
            <a:ext cx="3383280" cy="50477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ANELMASTER STEEL - Tecnologia per la produzione in continuo di pannelli  sandwich con isolamento termico in poliuretano o lana minerale | Hennecke  GROUP - Macchine, impianti e tecnologie per la lavorazione del poliuretano" id="91" name="Google Shape;91;p13"/>
          <p:cNvPicPr preferRelativeResize="0"/>
          <p:nvPr/>
        </p:nvPicPr>
        <p:blipFill rotWithShape="1">
          <a:blip r:embed="rId4">
            <a:alphaModFix/>
          </a:blip>
          <a:srcRect b="0" l="24445" r="24447" t="0"/>
          <a:stretch/>
        </p:blipFill>
        <p:spPr>
          <a:xfrm>
            <a:off x="4683639" y="972235"/>
            <a:ext cx="3383280" cy="504773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 txBox="1"/>
          <p:nvPr/>
        </p:nvSpPr>
        <p:spPr>
          <a:xfrm>
            <a:off x="9592733" y="6634670"/>
            <a:ext cx="2596047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Mattia Molteni, 5^C Informatica e Telecomunicazioni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nnecke Group" id="97" name="Google Shape;97;p14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6500" y="1730250"/>
            <a:ext cx="3994500" cy="1978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ffici prefabbricati per esterno e interni - Centrobox Fiumana| Forlì Cesena" id="98" name="Google Shape;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6614" y="1725134"/>
            <a:ext cx="2643416" cy="1982562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308619" y="1285963"/>
            <a:ext cx="2643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UFFICI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4892092" y="1285971"/>
            <a:ext cx="2643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IMPIANTI</a:t>
            </a:r>
            <a:endParaRPr/>
          </a:p>
        </p:txBody>
      </p:sp>
      <p:pic>
        <p:nvPicPr>
          <p:cNvPr descr="Level OfficeLandscape" id="101" name="Google Shape;10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34838" y="1728321"/>
            <a:ext cx="2643413" cy="197847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9234905" y="1285987"/>
            <a:ext cx="2643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DIVISIONE ELETTRICA (DE)</a:t>
            </a:r>
            <a:endParaRPr/>
          </a:p>
        </p:txBody>
      </p:sp>
      <p:pic>
        <p:nvPicPr>
          <p:cNvPr descr="Immagine che contiene testo, schermata, logo, Carattere&#10;&#10;Descrizione generata automaticamente" id="103" name="Google Shape;103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08425" y="4752520"/>
            <a:ext cx="2639789" cy="197938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308618" y="4179774"/>
            <a:ext cx="26433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Mauro Baraldi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>
                <a:solidFill>
                  <a:schemeClr val="dk1"/>
                </a:solidFill>
              </a:rPr>
              <a:t>- TUTOR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(responsabile softwaristi)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3839750" y="4250175"/>
            <a:ext cx="80367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miei colleghi si occupavano di programmare i quadri elettrici e i PLC che successivamente erano installati sugli impianti per permettere l'automazione della linea di produzione.</a:t>
            </a:r>
            <a:endParaRPr sz="2100"/>
          </a:p>
        </p:txBody>
      </p:sp>
      <p:sp>
        <p:nvSpPr>
          <p:cNvPr id="106" name="Google Shape;106;p14"/>
          <p:cNvSpPr/>
          <p:nvPr/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2253342" y="110313"/>
            <a:ext cx="7685400" cy="64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b="0" i="0" lang="en-US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STRUTTURA AZIENDALE E INSERIMENTO </a:t>
            </a:r>
            <a:endParaRPr b="0" i="0" sz="33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" name="Google Shape;113;p15"/>
          <p:cNvGrpSpPr/>
          <p:nvPr/>
        </p:nvGrpSpPr>
        <p:grpSpPr>
          <a:xfrm>
            <a:off x="4" y="1216597"/>
            <a:ext cx="731521" cy="673460"/>
            <a:chOff x="3940602" y="308034"/>
            <a:chExt cx="2116791" cy="3428999"/>
          </a:xfrm>
        </p:grpSpPr>
        <p:sp>
          <p:nvSpPr>
            <p:cNvPr id="114" name="Google Shape;114;p15"/>
            <p:cNvSpPr/>
            <p:nvPr/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15"/>
            <p:cNvSpPr/>
            <p:nvPr/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15"/>
            <p:cNvSpPr/>
            <p:nvPr/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7" name="Google Shape;117;p15"/>
          <p:cNvSpPr/>
          <p:nvPr/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rotWithShape="0" algn="t" dir="5400000" dist="127000">
              <a:srgbClr val="000000">
                <a:alpha val="1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5"/>
          <p:cNvSpPr txBox="1"/>
          <p:nvPr>
            <p:ph type="title"/>
          </p:nvPr>
        </p:nvSpPr>
        <p:spPr>
          <a:xfrm>
            <a:off x="1043631" y="809898"/>
            <a:ext cx="9942716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</a:pPr>
            <a:r>
              <a:rPr lang="en-US" sz="4800"/>
              <a:t>LAVORO SVOLTO DURANTE LO STAGE</a:t>
            </a:r>
            <a:endParaRPr/>
          </a:p>
        </p:txBody>
      </p:sp>
      <p:sp>
        <p:nvSpPr>
          <p:cNvPr id="119" name="Google Shape;119;p15"/>
          <p:cNvSpPr txBox="1"/>
          <p:nvPr>
            <p:ph idx="1" type="body"/>
          </p:nvPr>
        </p:nvSpPr>
        <p:spPr>
          <a:xfrm>
            <a:off x="1045028" y="3017522"/>
            <a:ext cx="9941319" cy="3124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Formazione (videocorso Siemens - 10 ore)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Affiancamento (2 giorni di affiancamento con diverse figure)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Modifica MTO (successivamente supervisionata dal mio tutor)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Programma traduzione (traduzione automatica programmi TIA)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Partecipazione a 2 riunioni aziendali con i responsabili</a:t>
            </a:r>
            <a:endParaRPr/>
          </a:p>
        </p:txBody>
      </p:sp>
      <p:cxnSp>
        <p:nvCxnSpPr>
          <p:cNvPr id="120" name="Google Shape;120;p15"/>
          <p:cNvCxnSpPr/>
          <p:nvPr/>
        </p:nvCxnSpPr>
        <p:spPr>
          <a:xfrm rot="10800000">
            <a:off x="838200" y="6485313"/>
            <a:ext cx="10515600" cy="0"/>
          </a:xfrm>
          <a:prstGeom prst="straightConnector1">
            <a:avLst/>
          </a:prstGeom>
          <a:noFill/>
          <a:ln cap="flat" cmpd="sng" w="57150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6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 txBox="1"/>
          <p:nvPr>
            <p:ph type="title"/>
          </p:nvPr>
        </p:nvSpPr>
        <p:spPr>
          <a:xfrm>
            <a:off x="838200" y="557200"/>
            <a:ext cx="3622800" cy="55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Play"/>
              <a:buNone/>
            </a:pPr>
            <a:r>
              <a:rPr lang="en-US" sz="4000"/>
              <a:t>COMPETENZE VERIFICATE UTILI</a:t>
            </a:r>
            <a:endParaRPr/>
          </a:p>
        </p:txBody>
      </p:sp>
      <p:grpSp>
        <p:nvGrpSpPr>
          <p:cNvPr id="127" name="Google Shape;127;p16"/>
          <p:cNvGrpSpPr/>
          <p:nvPr/>
        </p:nvGrpSpPr>
        <p:grpSpPr>
          <a:xfrm>
            <a:off x="5210028" y="1221735"/>
            <a:ext cx="6030000" cy="4536001"/>
            <a:chOff x="116820" y="601343"/>
            <a:chExt cx="6030000" cy="4536001"/>
          </a:xfrm>
        </p:grpSpPr>
        <p:sp>
          <p:nvSpPr>
            <p:cNvPr id="128" name="Google Shape;128;p16"/>
            <p:cNvSpPr/>
            <p:nvPr/>
          </p:nvSpPr>
          <p:spPr>
            <a:xfrm>
              <a:off x="467820" y="1672343"/>
              <a:ext cx="1098000" cy="1098000"/>
            </a:xfrm>
            <a:prstGeom prst="round2DiagRect">
              <a:avLst>
                <a:gd fmla="val 29727" name="adj1"/>
                <a:gd fmla="val 0" name="adj2"/>
              </a:avLst>
            </a:prstGeom>
            <a:solidFill>
              <a:srgbClr val="A0289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6"/>
            <p:cNvSpPr/>
            <p:nvPr/>
          </p:nvSpPr>
          <p:spPr>
            <a:xfrm>
              <a:off x="701820" y="1906343"/>
              <a:ext cx="630000" cy="630000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6"/>
            <p:cNvSpPr/>
            <p:nvPr/>
          </p:nvSpPr>
          <p:spPr>
            <a:xfrm>
              <a:off x="116820" y="1807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16"/>
            <p:cNvSpPr txBox="1"/>
            <p:nvPr/>
          </p:nvSpPr>
          <p:spPr>
            <a:xfrm>
              <a:off x="116820" y="3112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PROGRAMMAZIONE</a:t>
              </a:r>
              <a:endPara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6"/>
            <p:cNvSpPr/>
            <p:nvPr/>
          </p:nvSpPr>
          <p:spPr>
            <a:xfrm>
              <a:off x="2582820" y="1672343"/>
              <a:ext cx="1098000" cy="1098000"/>
            </a:xfrm>
            <a:prstGeom prst="round2DiagRect">
              <a:avLst>
                <a:gd fmla="val 29727" name="adj1"/>
                <a:gd fmla="val 0" name="adj2"/>
              </a:avLst>
            </a:prstGeom>
            <a:solidFill>
              <a:srgbClr val="4A2AA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2816820" y="1906343"/>
              <a:ext cx="630000" cy="63000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/>
            <p:nvPr/>
          </p:nvSpPr>
          <p:spPr>
            <a:xfrm>
              <a:off x="2231820" y="1807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16"/>
            <p:cNvSpPr txBox="1"/>
            <p:nvPr/>
          </p:nvSpPr>
          <p:spPr>
            <a:xfrm>
              <a:off x="2231820" y="3112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SISTEMI OPERATIVI E RETI</a:t>
              </a:r>
              <a:endPara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6"/>
            <p:cNvSpPr/>
            <p:nvPr/>
          </p:nvSpPr>
          <p:spPr>
            <a:xfrm>
              <a:off x="4931820" y="601343"/>
              <a:ext cx="630000" cy="630000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/>
            <p:nvPr/>
          </p:nvSpPr>
          <p:spPr>
            <a:xfrm>
              <a:off x="4346820" y="1807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6"/>
            <p:cNvSpPr/>
            <p:nvPr/>
          </p:nvSpPr>
          <p:spPr>
            <a:xfrm>
              <a:off x="1759320" y="3211343"/>
              <a:ext cx="630000" cy="630000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16"/>
            <p:cNvSpPr/>
            <p:nvPr/>
          </p:nvSpPr>
          <p:spPr>
            <a:xfrm>
              <a:off x="1174320" y="4417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/>
            <p:nvPr/>
          </p:nvSpPr>
          <p:spPr>
            <a:xfrm>
              <a:off x="4697820" y="1672343"/>
              <a:ext cx="1098000" cy="1098000"/>
            </a:xfrm>
            <a:prstGeom prst="round2DiagRect">
              <a:avLst>
                <a:gd fmla="val 29727" name="adj1"/>
                <a:gd fmla="val 0" name="adj2"/>
              </a:avLst>
            </a:prstGeom>
            <a:solidFill>
              <a:srgbClr val="4CA62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16"/>
            <p:cNvSpPr/>
            <p:nvPr/>
          </p:nvSpPr>
          <p:spPr>
            <a:xfrm>
              <a:off x="4931820" y="1906343"/>
              <a:ext cx="630000" cy="630000"/>
            </a:xfrm>
            <a:prstGeom prst="rect">
              <a:avLst/>
            </a:prstGeom>
            <a:blipFill rotWithShape="1">
              <a:blip r:embed="rId7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16"/>
            <p:cNvSpPr/>
            <p:nvPr/>
          </p:nvSpPr>
          <p:spPr>
            <a:xfrm>
              <a:off x="3289320" y="4417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6"/>
            <p:cNvSpPr txBox="1"/>
            <p:nvPr/>
          </p:nvSpPr>
          <p:spPr>
            <a:xfrm>
              <a:off x="4346820" y="311234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PROBLEM SOLVING E PENSIERO CRITICO</a:t>
              </a:r>
              <a:endPara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44" name="Google Shape;144;p16"/>
          <p:cNvCxnSpPr/>
          <p:nvPr/>
        </p:nvCxnSpPr>
        <p:spPr>
          <a:xfrm rot="10800000">
            <a:off x="4660775" y="477175"/>
            <a:ext cx="11100" cy="5737200"/>
          </a:xfrm>
          <a:prstGeom prst="straightConnector1">
            <a:avLst/>
          </a:prstGeom>
          <a:noFill/>
          <a:ln cap="flat" cmpd="sng" w="57150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 txBox="1"/>
          <p:nvPr>
            <p:ph type="title"/>
          </p:nvPr>
        </p:nvSpPr>
        <p:spPr>
          <a:xfrm>
            <a:off x="841248" y="685800"/>
            <a:ext cx="10506456" cy="11570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</a:pPr>
            <a:r>
              <a:rPr lang="en-US" sz="4800"/>
              <a:t>COMPETENZE ACQUISITE</a:t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 rot="5400000">
            <a:off x="1120140" y="34093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41248" y="1958056"/>
            <a:ext cx="10506456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3" name="Google Shape;153;p17"/>
          <p:cNvGrpSpPr/>
          <p:nvPr/>
        </p:nvGrpSpPr>
        <p:grpSpPr>
          <a:xfrm>
            <a:off x="961428" y="3153725"/>
            <a:ext cx="10260000" cy="2160001"/>
            <a:chOff x="123228" y="858473"/>
            <a:chExt cx="10260000" cy="2160001"/>
          </a:xfrm>
        </p:grpSpPr>
        <p:sp>
          <p:nvSpPr>
            <p:cNvPr id="154" name="Google Shape;154;p17"/>
            <p:cNvSpPr/>
            <p:nvPr/>
          </p:nvSpPr>
          <p:spPr>
            <a:xfrm>
              <a:off x="2593803" y="858473"/>
              <a:ext cx="1098000" cy="10980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2827803" y="1092474"/>
              <a:ext cx="630000" cy="630000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7"/>
            <p:cNvSpPr/>
            <p:nvPr/>
          </p:nvSpPr>
          <p:spPr>
            <a:xfrm>
              <a:off x="123228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17"/>
            <p:cNvSpPr txBox="1"/>
            <p:nvPr/>
          </p:nvSpPr>
          <p:spPr>
            <a:xfrm>
              <a:off x="2242803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PROGRAMMAZIONE PLC (PROGRAMMABLE LOGIC CONTROLLER)</a:t>
              </a:r>
              <a:endPara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2238228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7"/>
            <p:cNvSpPr/>
            <p:nvPr/>
          </p:nvSpPr>
          <p:spPr>
            <a:xfrm>
              <a:off x="4708803" y="858473"/>
              <a:ext cx="1098000" cy="10980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7"/>
            <p:cNvSpPr/>
            <p:nvPr/>
          </p:nvSpPr>
          <p:spPr>
            <a:xfrm>
              <a:off x="4942803" y="1092473"/>
              <a:ext cx="630000" cy="63000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7"/>
            <p:cNvSpPr/>
            <p:nvPr/>
          </p:nvSpPr>
          <p:spPr>
            <a:xfrm>
              <a:off x="4353228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4357803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b="0" i="0" lang="en-US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INTEGRAZIONE DI SISTEMI MECCATRONICI</a:t>
              </a:r>
              <a:endPara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7"/>
            <p:cNvSpPr/>
            <p:nvPr/>
          </p:nvSpPr>
          <p:spPr>
            <a:xfrm>
              <a:off x="6823803" y="858473"/>
              <a:ext cx="1098000" cy="10980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7"/>
            <p:cNvSpPr/>
            <p:nvPr/>
          </p:nvSpPr>
          <p:spPr>
            <a:xfrm>
              <a:off x="7057803" y="1092473"/>
              <a:ext cx="630000" cy="630000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7"/>
            <p:cNvSpPr/>
            <p:nvPr/>
          </p:nvSpPr>
          <p:spPr>
            <a:xfrm>
              <a:off x="6468228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17"/>
            <p:cNvSpPr txBox="1"/>
            <p:nvPr/>
          </p:nvSpPr>
          <p:spPr>
            <a:xfrm>
              <a:off x="6472803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b="0" i="0" lang="en-US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AUTOMAZIONE ROBOTICA</a:t>
              </a:r>
              <a:endPara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17"/>
            <p:cNvSpPr/>
            <p:nvPr/>
          </p:nvSpPr>
          <p:spPr>
            <a:xfrm>
              <a:off x="8583228" y="2298474"/>
              <a:ext cx="18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-1" y="0"/>
            <a:ext cx="4818889" cy="6858000"/>
          </a:xfrm>
          <a:custGeom>
            <a:rect b="b" l="l" r="r" t="t"/>
            <a:pathLst>
              <a:path extrusionOk="0" h="6858000" w="4818889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 cap="flat" cmpd="sng" w="9525">
            <a:solidFill>
              <a:srgbClr val="EFEFE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88900" rotWithShape="0" algn="l" dist="38100">
              <a:srgbClr val="D8D8D8">
                <a:alpha val="49803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1" y="0"/>
            <a:ext cx="4811477" cy="6858000"/>
          </a:xfrm>
          <a:custGeom>
            <a:rect b="b" l="l" r="r" t="t"/>
            <a:pathLst>
              <a:path extrusionOk="0" h="6858000" w="4811477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 txBox="1"/>
          <p:nvPr>
            <p:ph type="title"/>
          </p:nvPr>
        </p:nvSpPr>
        <p:spPr>
          <a:xfrm>
            <a:off x="621792" y="1161288"/>
            <a:ext cx="3602736" cy="4526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Play"/>
              <a:buNone/>
            </a:pPr>
            <a:r>
              <a:rPr lang="en-US" sz="4000"/>
              <a:t>SOFT SKILL NECESSARIE PER AMBIENTE LAVORATIVO</a:t>
            </a:r>
            <a:endParaRPr/>
          </a:p>
        </p:txBody>
      </p:sp>
      <p:sp>
        <p:nvSpPr>
          <p:cNvPr id="176" name="Google Shape;176;p18"/>
          <p:cNvSpPr/>
          <p:nvPr/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7" name="Google Shape;177;p18"/>
          <p:cNvGrpSpPr/>
          <p:nvPr/>
        </p:nvGrpSpPr>
        <p:grpSpPr>
          <a:xfrm>
            <a:off x="5303520" y="680963"/>
            <a:ext cx="6364224" cy="5505217"/>
            <a:chOff x="0" y="4307"/>
            <a:chExt cx="6364224" cy="5505217"/>
          </a:xfrm>
        </p:grpSpPr>
        <p:sp>
          <p:nvSpPr>
            <p:cNvPr id="178" name="Google Shape;178;p18"/>
            <p:cNvSpPr/>
            <p:nvPr/>
          </p:nvSpPr>
          <p:spPr>
            <a:xfrm>
              <a:off x="0" y="4307"/>
              <a:ext cx="6364224" cy="917536"/>
            </a:xfrm>
            <a:prstGeom prst="roundRect">
              <a:avLst>
                <a:gd fmla="val 1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8"/>
            <p:cNvSpPr/>
            <p:nvPr/>
          </p:nvSpPr>
          <p:spPr>
            <a:xfrm>
              <a:off x="277554" y="210753"/>
              <a:ext cx="504644" cy="504644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18"/>
            <p:cNvSpPr/>
            <p:nvPr/>
          </p:nvSpPr>
          <p:spPr>
            <a:xfrm>
              <a:off x="1059754" y="4307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18"/>
            <p:cNvSpPr txBox="1"/>
            <p:nvPr/>
          </p:nvSpPr>
          <p:spPr>
            <a:xfrm>
              <a:off x="1059754" y="4307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7100" lIns="97100" spcFirstLastPara="1" rIns="97100" wrap="square" tIns="97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en-US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Comunicazione efficace</a:t>
              </a:r>
              <a:endPara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18"/>
            <p:cNvSpPr/>
            <p:nvPr/>
          </p:nvSpPr>
          <p:spPr>
            <a:xfrm>
              <a:off x="0" y="1151227"/>
              <a:ext cx="6364224" cy="917536"/>
            </a:xfrm>
            <a:prstGeom prst="roundRect">
              <a:avLst>
                <a:gd fmla="val 1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8"/>
            <p:cNvSpPr/>
            <p:nvPr/>
          </p:nvSpPr>
          <p:spPr>
            <a:xfrm>
              <a:off x="277554" y="1357673"/>
              <a:ext cx="504644" cy="504644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8"/>
            <p:cNvSpPr/>
            <p:nvPr/>
          </p:nvSpPr>
          <p:spPr>
            <a:xfrm>
              <a:off x="1059754" y="1151227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18"/>
            <p:cNvSpPr txBox="1"/>
            <p:nvPr/>
          </p:nvSpPr>
          <p:spPr>
            <a:xfrm>
              <a:off x="1059754" y="1151227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7100" lIns="97100" spcFirstLastPara="1" rIns="97100" wrap="square" tIns="97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en-US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Problem solving</a:t>
              </a:r>
              <a:endPara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18"/>
            <p:cNvSpPr/>
            <p:nvPr/>
          </p:nvSpPr>
          <p:spPr>
            <a:xfrm>
              <a:off x="0" y="2298147"/>
              <a:ext cx="6364224" cy="917536"/>
            </a:xfrm>
            <a:prstGeom prst="roundRect">
              <a:avLst>
                <a:gd fmla="val 1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18"/>
            <p:cNvSpPr/>
            <p:nvPr/>
          </p:nvSpPr>
          <p:spPr>
            <a:xfrm>
              <a:off x="277554" y="2504593"/>
              <a:ext cx="504644" cy="504644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18"/>
            <p:cNvSpPr/>
            <p:nvPr/>
          </p:nvSpPr>
          <p:spPr>
            <a:xfrm>
              <a:off x="1059754" y="2298147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18"/>
            <p:cNvSpPr txBox="1"/>
            <p:nvPr/>
          </p:nvSpPr>
          <p:spPr>
            <a:xfrm>
              <a:off x="1059754" y="2298147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7100" lIns="97100" spcFirstLastPara="1" rIns="97100" wrap="square" tIns="97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en-US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Adattabilità e flessibilità</a:t>
              </a:r>
              <a:endPara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18"/>
            <p:cNvSpPr/>
            <p:nvPr/>
          </p:nvSpPr>
          <p:spPr>
            <a:xfrm>
              <a:off x="0" y="3445068"/>
              <a:ext cx="6364224" cy="917536"/>
            </a:xfrm>
            <a:prstGeom prst="roundRect">
              <a:avLst>
                <a:gd fmla="val 1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18"/>
            <p:cNvSpPr/>
            <p:nvPr/>
          </p:nvSpPr>
          <p:spPr>
            <a:xfrm>
              <a:off x="277554" y="3651513"/>
              <a:ext cx="504644" cy="504644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8"/>
            <p:cNvSpPr/>
            <p:nvPr/>
          </p:nvSpPr>
          <p:spPr>
            <a:xfrm>
              <a:off x="1059754" y="3445068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18"/>
            <p:cNvSpPr txBox="1"/>
            <p:nvPr/>
          </p:nvSpPr>
          <p:spPr>
            <a:xfrm>
              <a:off x="1059754" y="3445068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7100" lIns="97100" spcFirstLastPara="1" rIns="97100" wrap="square" tIns="97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en-US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Lavoro di squadra</a:t>
              </a:r>
              <a:endPara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18"/>
            <p:cNvSpPr/>
            <p:nvPr/>
          </p:nvSpPr>
          <p:spPr>
            <a:xfrm>
              <a:off x="0" y="4591988"/>
              <a:ext cx="6364224" cy="917536"/>
            </a:xfrm>
            <a:prstGeom prst="roundRect">
              <a:avLst>
                <a:gd fmla="val 1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18"/>
            <p:cNvSpPr/>
            <p:nvPr/>
          </p:nvSpPr>
          <p:spPr>
            <a:xfrm>
              <a:off x="277554" y="4798433"/>
              <a:ext cx="504644" cy="504644"/>
            </a:xfrm>
            <a:prstGeom prst="rect">
              <a:avLst/>
            </a:prstGeom>
            <a:blipFill rotWithShape="1">
              <a:blip r:embed="rId7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18"/>
            <p:cNvSpPr/>
            <p:nvPr/>
          </p:nvSpPr>
          <p:spPr>
            <a:xfrm>
              <a:off x="1059754" y="4591988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18"/>
            <p:cNvSpPr txBox="1"/>
            <p:nvPr/>
          </p:nvSpPr>
          <p:spPr>
            <a:xfrm>
              <a:off x="1059754" y="4591988"/>
              <a:ext cx="5304469" cy="9175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7100" lIns="97100" spcFirstLastPara="1" rIns="97100" wrap="square" tIns="97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en-US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Gestione del tempo</a:t>
              </a:r>
              <a:endPara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9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3" name="Google Shape;203;p19"/>
          <p:cNvGrpSpPr/>
          <p:nvPr/>
        </p:nvGrpSpPr>
        <p:grpSpPr>
          <a:xfrm>
            <a:off x="74300" y="2385102"/>
            <a:ext cx="574091" cy="2087796"/>
            <a:chOff x="209668" y="2857422"/>
            <a:chExt cx="463662" cy="2087796"/>
          </a:xfrm>
        </p:grpSpPr>
        <p:sp>
          <p:nvSpPr>
            <p:cNvPr id="204" name="Google Shape;204;p19"/>
            <p:cNvSpPr/>
            <p:nvPr/>
          </p:nvSpPr>
          <p:spPr>
            <a:xfrm rot="10800000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05" name="Google Shape;205;p19"/>
            <p:cNvCxnSpPr/>
            <p:nvPr/>
          </p:nvCxnSpPr>
          <p:spPr>
            <a:xfrm flipH="1">
              <a:off x="209668" y="2857423"/>
              <a:ext cx="1" cy="2087795"/>
            </a:xfrm>
            <a:prstGeom prst="straightConnector1">
              <a:avLst/>
            </a:prstGeom>
            <a:noFill/>
            <a:ln cap="flat" cmpd="sng" w="177800">
              <a:solidFill>
                <a:schemeClr val="accent4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06" name="Google Shape;206;p19"/>
          <p:cNvSpPr/>
          <p:nvPr/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579528" y="631767"/>
            <a:ext cx="11111729" cy="5752404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rotWithShape="0" algn="t" dir="5400000" dist="127000">
              <a:srgbClr val="000000">
                <a:alpha val="1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9"/>
          <p:cNvSpPr txBox="1"/>
          <p:nvPr>
            <p:ph type="title"/>
          </p:nvPr>
        </p:nvSpPr>
        <p:spPr>
          <a:xfrm>
            <a:off x="1153618" y="1239927"/>
            <a:ext cx="4008586" cy="46805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lay"/>
              <a:buNone/>
            </a:pPr>
            <a:r>
              <a:rPr lang="en-US" sz="5200"/>
              <a:t>IL MIO BILANCIO FINALE</a:t>
            </a:r>
            <a:endParaRPr/>
          </a:p>
        </p:txBody>
      </p:sp>
      <p:sp>
        <p:nvSpPr>
          <p:cNvPr id="209" name="Google Shape;209;p19"/>
          <p:cNvSpPr txBox="1"/>
          <p:nvPr>
            <p:ph idx="1" type="body"/>
          </p:nvPr>
        </p:nvSpPr>
        <p:spPr>
          <a:xfrm>
            <a:off x="6291923" y="1239927"/>
            <a:ext cx="4971824" cy="46805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/>
              <a:t>Questa esperienza PCTO mi ha dato: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/>
              <a:t>Un nuovo approccio al problem solving</a:t>
            </a:r>
            <a:r>
              <a:rPr lang="en-US" sz="1800"/>
              <a:t>: ho imparato a declinare la teoria in casi concreti, pur restando nel contesto scolastico.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/>
              <a:t>Confidenza con strumenti avanzati</a:t>
            </a:r>
            <a:r>
              <a:rPr lang="en-US" sz="1800"/>
              <a:t>: dai PLC ai sistemi SCADA, mi sento ora più sicuro nel gestire tecnologie complesse.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/>
              <a:t>Spinta all’autonomia di apprendimento</a:t>
            </a:r>
            <a:r>
              <a:rPr lang="en-US" sz="1800"/>
              <a:t>: seguire riunioni tecniche e corsi online mi ha insegnato a orientarmi in un mondo di conoscenze sempre in evoluzione.</a:t>
            </a:r>
            <a:endParaRPr sz="3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tenei: quattro università milanesi tra le 50 migliori al mondo – Cluster  Lombardo" id="215" name="Google Shape;21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676" y="788310"/>
            <a:ext cx="3874124" cy="2314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arta Murale Mondo Fisica+Politica Manifattura Del Tigullio – Cartolibreria  Santacatterina" id="216" name="Google Shape;21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676" y="3625423"/>
            <a:ext cx="3874124" cy="2566607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0"/>
          <p:cNvSpPr/>
          <p:nvPr/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0"/>
          <p:cNvSpPr/>
          <p:nvPr/>
        </p:nvSpPr>
        <p:spPr>
          <a:xfrm>
            <a:off x="4976029" y="623275"/>
            <a:ext cx="6570797" cy="5607882"/>
          </a:xfrm>
          <a:prstGeom prst="rect">
            <a:avLst/>
          </a:prstGeom>
          <a:noFill/>
          <a:ln cap="flat" cmpd="sng" w="19050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0"/>
          <p:cNvSpPr txBox="1"/>
          <p:nvPr>
            <p:ph type="title"/>
          </p:nvPr>
        </p:nvSpPr>
        <p:spPr>
          <a:xfrm>
            <a:off x="5320516" y="916494"/>
            <a:ext cx="3500475" cy="61898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-US" sz="4000"/>
              <a:t>IL MIO FUTURO</a:t>
            </a:r>
            <a:endParaRPr/>
          </a:p>
        </p:txBody>
      </p:sp>
      <p:sp>
        <p:nvSpPr>
          <p:cNvPr id="220" name="Google Shape;220;p20"/>
          <p:cNvSpPr txBox="1"/>
          <p:nvPr>
            <p:ph idx="1" type="body"/>
          </p:nvPr>
        </p:nvSpPr>
        <p:spPr>
          <a:xfrm>
            <a:off x="5320517" y="1629229"/>
            <a:ext cx="4505700" cy="4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sz="1700"/>
              <a:t>"Riflettendo sul mio futuro, sono determinato a proseguire il mio percorso accademico in Italia, dove credo di poter accedere a opportunità di formazione e crescita più in linea con le mie aspirazioni. </a:t>
            </a:r>
            <a:endParaRPr sz="1700"/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sz="1700"/>
              <a:t>Nonostante il mio attuale percorso di studi informatico, non escludo la possibilità di orientarmi verso un indirizzo economico, riconoscendo l'importanza di un approccio multidisciplinare in un mondo sempre più interconnesso. </a:t>
            </a:r>
            <a:endParaRPr sz="3100"/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sz="1700"/>
              <a:t>Qualunque sarà la mia scelta definitiva, sono certo che questa mi consentirà di acquisire competenze fondamentali per affrontare con successo le sfide future e realizzare i miei obiettivi professionali.“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