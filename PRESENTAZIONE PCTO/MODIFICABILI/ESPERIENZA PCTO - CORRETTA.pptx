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2.jpg"/><Relationship Id="rId5" Type="http://schemas.openxmlformats.org/officeDocument/2006/relationships/image" Target="../media/image7.jpg"/><Relationship Id="rId6" Type="http://schemas.openxmlformats.org/officeDocument/2006/relationships/image" Target="../media/image5.png"/><Relationship Id="rId7" Type="http://schemas.openxmlformats.org/officeDocument/2006/relationships/hyperlink" Target="https://www.linkedin.com/in/mauro-baraldi-701383264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>
            <p:ph type="ctrTitle"/>
          </p:nvPr>
        </p:nvSpPr>
        <p:spPr>
          <a:xfrm>
            <a:off x="8593675" y="679721"/>
            <a:ext cx="3505200" cy="53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US" sz="6200"/>
              <a:t>LA MIA ESPERIENZA PCTO IN AZIENDA</a:t>
            </a:r>
            <a:endParaRPr sz="6300"/>
          </a:p>
        </p:txBody>
      </p:sp>
      <p:grpSp>
        <p:nvGrpSpPr>
          <p:cNvPr id="86" name="Google Shape;86;p13"/>
          <p:cNvGrpSpPr/>
          <p:nvPr/>
        </p:nvGrpSpPr>
        <p:grpSpPr>
          <a:xfrm>
            <a:off x="329184" y="1"/>
            <a:ext cx="2446384" cy="5777808"/>
            <a:chOff x="329184" y="1"/>
            <a:chExt cx="524256" cy="5777808"/>
          </a:xfrm>
        </p:grpSpPr>
        <p:cxnSp>
          <p:nvCxnSpPr>
            <p:cNvPr id="87" name="Google Shape;87;p13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cap="flat" cmpd="sng" w="1524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" name="Google Shape;88;p13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3"/>
          <p:cNvSpPr/>
          <p:nvPr/>
        </p:nvSpPr>
        <p:spPr>
          <a:xfrm>
            <a:off x="688623" y="679731"/>
            <a:ext cx="7682293" cy="56628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ennecke-OMS S.P.A. | Hennecke GROUP - Macchine, impianti e tecnologie per  la lavorazione del poliuretano" id="90" name="Google Shape;90;p13"/>
          <p:cNvPicPr preferRelativeResize="0"/>
          <p:nvPr/>
        </p:nvPicPr>
        <p:blipFill rotWithShape="1">
          <a:blip r:embed="rId3">
            <a:alphaModFix/>
          </a:blip>
          <a:srcRect b="2" l="0" r="46547" t="0"/>
          <a:stretch/>
        </p:blipFill>
        <p:spPr>
          <a:xfrm>
            <a:off x="996363" y="972235"/>
            <a:ext cx="3383280" cy="5047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NELMASTER STEEL - Tecnologia per la produzione in continuo di pannelli  sandwich con isolamento termico in poliuretano o lana minerale | Hennecke  GROUP - Macchine, impianti e tecnologie per la lavorazione del poliuretano" id="91" name="Google Shape;91;p13"/>
          <p:cNvPicPr preferRelativeResize="0"/>
          <p:nvPr/>
        </p:nvPicPr>
        <p:blipFill rotWithShape="1">
          <a:blip r:embed="rId4">
            <a:alphaModFix/>
          </a:blip>
          <a:srcRect b="0" l="24445" r="24447" t="0"/>
          <a:stretch/>
        </p:blipFill>
        <p:spPr>
          <a:xfrm>
            <a:off x="4683639" y="972235"/>
            <a:ext cx="3383280" cy="504773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9592733" y="6634670"/>
            <a:ext cx="259604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Mattia Molteni, 5^C Informatica e Telecomunicazioni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nnecke Group" id="97" name="Google Shape;9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6500" y="1730250"/>
            <a:ext cx="3994500" cy="197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ici prefabbricati per esterno e interni - Centrobox Fiumana| Forlì Cesena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614" y="1725134"/>
            <a:ext cx="2643416" cy="198256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308619" y="1285963"/>
            <a:ext cx="264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UFFICI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892092" y="1285971"/>
            <a:ext cx="264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IMPIANTI</a:t>
            </a:r>
            <a:endParaRPr/>
          </a:p>
        </p:txBody>
      </p:sp>
      <p:pic>
        <p:nvPicPr>
          <p:cNvPr descr="Level OfficeLandscape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4838" y="1728321"/>
            <a:ext cx="2643413" cy="197847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234905" y="1285987"/>
            <a:ext cx="264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DIVISIONE ELETTRICA (DE)</a:t>
            </a:r>
            <a:endParaRPr/>
          </a:p>
        </p:txBody>
      </p:sp>
      <p:pic>
        <p:nvPicPr>
          <p:cNvPr descr="Immagine che contiene testo, schermata, logo, Carattere&#10;&#10;Descrizione generata automaticamente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8425" y="4752520"/>
            <a:ext cx="2639789" cy="197938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308618" y="4179774"/>
            <a:ext cx="264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Mauro Baraldi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chemeClr val="dk1"/>
                </a:solidFill>
              </a:rPr>
              <a:t>- TUTOR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(responsabile softwaristi)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3839750" y="4250175"/>
            <a:ext cx="8036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miei colleghi si occupavano di programmare i quadri elettrici e i PLC che successivamente erano installati sugli impianti per permettere l'automazione della linea di produzione.</a:t>
            </a:r>
            <a:endParaRPr sz="2100"/>
          </a:p>
        </p:txBody>
      </p:sp>
      <p:sp>
        <p:nvSpPr>
          <p:cNvPr id="106" name="Google Shape;106;p14"/>
          <p:cNvSpPr/>
          <p:nvPr/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253342" y="110313"/>
            <a:ext cx="76854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b="0" i="0" lang="en-US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STRUTTURA AZIENDALE E INSERIMENTO </a:t>
            </a:r>
            <a:endParaRPr b="0" i="0" sz="33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15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14" name="Google Shape;114;p15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5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 txBox="1"/>
          <p:nvPr>
            <p:ph type="title"/>
          </p:nvPr>
        </p:nvSpPr>
        <p:spPr>
          <a:xfrm>
            <a:off x="1043631" y="809898"/>
            <a:ext cx="994271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US" sz="4800"/>
              <a:t>LAVORO SVOLTO DURANTE LO STAGE</a:t>
            </a:r>
            <a:endParaRPr/>
          </a:p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1045028" y="3017522"/>
            <a:ext cx="9941319" cy="3124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Formazione (videocorso Siemens - 10 ore)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Affiancamento (2 giorni di affiancamento con diverse figure)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Modifica MTO (successivamente supervisionata dal mio tutor)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Programma traduzione (traduzione automatica programmi TIA)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Partecipazione a 2 riunioni aziendali con i responsabili</a:t>
            </a:r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>
            <p:ph type="title"/>
          </p:nvPr>
        </p:nvSpPr>
        <p:spPr>
          <a:xfrm>
            <a:off x="838200" y="557200"/>
            <a:ext cx="3622800" cy="55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COMPETENZE VERIFICATE UTILI</a:t>
            </a:r>
            <a:endParaRPr/>
          </a:p>
        </p:txBody>
      </p:sp>
      <p:grpSp>
        <p:nvGrpSpPr>
          <p:cNvPr id="127" name="Google Shape;127;p16"/>
          <p:cNvGrpSpPr/>
          <p:nvPr/>
        </p:nvGrpSpPr>
        <p:grpSpPr>
          <a:xfrm>
            <a:off x="5210028" y="1221735"/>
            <a:ext cx="6030000" cy="4536001"/>
            <a:chOff x="116820" y="601343"/>
            <a:chExt cx="6030000" cy="4536001"/>
          </a:xfrm>
        </p:grpSpPr>
        <p:sp>
          <p:nvSpPr>
            <p:cNvPr id="128" name="Google Shape;128;p16"/>
            <p:cNvSpPr/>
            <p:nvPr/>
          </p:nvSpPr>
          <p:spPr>
            <a:xfrm>
              <a:off x="467820" y="1672343"/>
              <a:ext cx="1098000" cy="109800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A028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701820" y="1906343"/>
              <a:ext cx="630000" cy="63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116820" y="180734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116820" y="311234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PROGRAMMAZIONE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2582820" y="1672343"/>
              <a:ext cx="1098000" cy="109800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4A2A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2816820" y="1906343"/>
              <a:ext cx="630000" cy="63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2231820" y="180734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2231820" y="311234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SISTEMI OPERATIVI E RETI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4931820" y="601343"/>
              <a:ext cx="630000" cy="630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4346820" y="180734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1759320" y="3211343"/>
              <a:ext cx="630000" cy="630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1174320" y="441734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4697820" y="1672343"/>
              <a:ext cx="1098000" cy="109800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4CA6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4931820" y="1906343"/>
              <a:ext cx="630000" cy="6300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3289320" y="441734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4346820" y="311234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PROBLEM SOLVING E PENSIERO CRITICO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4" name="Google Shape;144;p16"/>
          <p:cNvCxnSpPr/>
          <p:nvPr/>
        </p:nvCxnSpPr>
        <p:spPr>
          <a:xfrm rot="10800000">
            <a:off x="4660775" y="477175"/>
            <a:ext cx="11100" cy="573720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 txBox="1"/>
          <p:nvPr>
            <p:ph type="title"/>
          </p:nvPr>
        </p:nvSpPr>
        <p:spPr>
          <a:xfrm>
            <a:off x="841248" y="685800"/>
            <a:ext cx="10506456" cy="1157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US" sz="4800"/>
              <a:t>COMPETENZE ACQUISITE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17"/>
          <p:cNvGrpSpPr/>
          <p:nvPr/>
        </p:nvGrpSpPr>
        <p:grpSpPr>
          <a:xfrm>
            <a:off x="961428" y="3153725"/>
            <a:ext cx="10260000" cy="2160001"/>
            <a:chOff x="123228" y="858473"/>
            <a:chExt cx="10260000" cy="2160001"/>
          </a:xfrm>
        </p:grpSpPr>
        <p:sp>
          <p:nvSpPr>
            <p:cNvPr id="154" name="Google Shape;154;p17"/>
            <p:cNvSpPr/>
            <p:nvPr/>
          </p:nvSpPr>
          <p:spPr>
            <a:xfrm>
              <a:off x="2593803" y="858473"/>
              <a:ext cx="1098000" cy="1098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2827803" y="1092474"/>
              <a:ext cx="630000" cy="63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123228" y="229847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2242803" y="229847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PROGRAMMAZIONE PLC (PROGRAMMABLE LOGIC CONTROLLER)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2238228" y="229847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4708803" y="858473"/>
              <a:ext cx="1098000" cy="1098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4942803" y="1092473"/>
              <a:ext cx="630000" cy="63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4353228" y="229847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4357803" y="229847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INTEGRAZIONE DI SISTEMI MECCATRONICI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6823803" y="858473"/>
              <a:ext cx="1098000" cy="1098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7057803" y="1092473"/>
              <a:ext cx="630000" cy="630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6468228" y="229847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6472803" y="229847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AUTOMAZIONE ROBOTICA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8583228" y="2298474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-1" y="0"/>
            <a:ext cx="4818889" cy="6858000"/>
          </a:xfrm>
          <a:custGeom>
            <a:rect b="b" l="l" r="r" t="t"/>
            <a:pathLst>
              <a:path extrusionOk="0" h="6858000" w="4818889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1" y="0"/>
            <a:ext cx="4811477" cy="6858000"/>
          </a:xfrm>
          <a:custGeom>
            <a:rect b="b" l="l" r="r" t="t"/>
            <a:pathLst>
              <a:path extrusionOk="0" h="6858000" w="4811477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>
            <p:ph type="title"/>
          </p:nvPr>
        </p:nvSpPr>
        <p:spPr>
          <a:xfrm>
            <a:off x="621792" y="1161288"/>
            <a:ext cx="3602736" cy="452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SOFT SKILL NECESSARIE PER AMBIENTE LAVORATIVO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18"/>
          <p:cNvGrpSpPr/>
          <p:nvPr/>
        </p:nvGrpSpPr>
        <p:grpSpPr>
          <a:xfrm>
            <a:off x="5303520" y="680963"/>
            <a:ext cx="6364224" cy="5505217"/>
            <a:chOff x="0" y="4307"/>
            <a:chExt cx="6364224" cy="5505217"/>
          </a:xfrm>
        </p:grpSpPr>
        <p:sp>
          <p:nvSpPr>
            <p:cNvPr id="178" name="Google Shape;178;p18"/>
            <p:cNvSpPr/>
            <p:nvPr/>
          </p:nvSpPr>
          <p:spPr>
            <a:xfrm>
              <a:off x="0" y="4307"/>
              <a:ext cx="6364224" cy="91753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277554" y="210753"/>
              <a:ext cx="504644" cy="50464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1059754" y="4307"/>
              <a:ext cx="5304469" cy="917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1059754" y="4307"/>
              <a:ext cx="5304469" cy="917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100" lIns="97100" spcFirstLastPara="1" rIns="97100" wrap="square" tIns="97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Comunicazione efficace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0" y="1151227"/>
              <a:ext cx="6364224" cy="91753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277554" y="1357673"/>
              <a:ext cx="504644" cy="50464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1059754" y="1151227"/>
              <a:ext cx="5304469" cy="917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1059754" y="1151227"/>
              <a:ext cx="5304469" cy="917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100" lIns="97100" spcFirstLastPara="1" rIns="97100" wrap="square" tIns="97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Problem solving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0" y="2298147"/>
              <a:ext cx="6364224" cy="91753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277554" y="2504593"/>
              <a:ext cx="504644" cy="50464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1059754" y="2298147"/>
              <a:ext cx="5304469" cy="917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1059754" y="2298147"/>
              <a:ext cx="5304469" cy="917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100" lIns="97100" spcFirstLastPara="1" rIns="97100" wrap="square" tIns="97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Adattabilità e flessibilità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0" y="3445068"/>
              <a:ext cx="6364224" cy="91753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277554" y="3651513"/>
              <a:ext cx="504644" cy="50464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1059754" y="3445068"/>
              <a:ext cx="5304469" cy="917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1059754" y="3445068"/>
              <a:ext cx="5304469" cy="917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100" lIns="97100" spcFirstLastPara="1" rIns="97100" wrap="square" tIns="97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Lavoro di squadra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0" y="4591988"/>
              <a:ext cx="6364224" cy="91753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277554" y="4798433"/>
              <a:ext cx="504644" cy="50464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1059754" y="4591988"/>
              <a:ext cx="5304469" cy="917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1059754" y="4591988"/>
              <a:ext cx="5304469" cy="917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100" lIns="97100" spcFirstLastPara="1" rIns="97100" wrap="square" tIns="97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Gestione del tempo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19"/>
          <p:cNvGrpSpPr/>
          <p:nvPr/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204" name="Google Shape;204;p19"/>
            <p:cNvSpPr/>
            <p:nvPr/>
          </p:nvSpPr>
          <p:spPr>
            <a:xfrm rot="10800000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p19"/>
            <p:cNvCxnSpPr/>
            <p:nvPr/>
          </p:nvCxnSpPr>
          <p:spPr>
            <a:xfrm flipH="1">
              <a:off x="209668" y="2857423"/>
              <a:ext cx="1" cy="2087795"/>
            </a:xfrm>
            <a:prstGeom prst="straightConnector1">
              <a:avLst/>
            </a:prstGeom>
            <a:noFill/>
            <a:ln cap="flat" cmpd="sng" w="1778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6" name="Google Shape;206;p19"/>
          <p:cNvSpPr/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/>
          <p:nvPr>
            <p:ph type="title"/>
          </p:nvPr>
        </p:nvSpPr>
        <p:spPr>
          <a:xfrm>
            <a:off x="1153618" y="1239927"/>
            <a:ext cx="4008586" cy="46805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/>
              <a:t>IL MIO BILANCIO FINALE</a:t>
            </a:r>
            <a:endParaRPr/>
          </a:p>
        </p:txBody>
      </p:sp>
      <p:sp>
        <p:nvSpPr>
          <p:cNvPr id="209" name="Google Shape;209;p19"/>
          <p:cNvSpPr txBox="1"/>
          <p:nvPr>
            <p:ph idx="1" type="body"/>
          </p:nvPr>
        </p:nvSpPr>
        <p:spPr>
          <a:xfrm>
            <a:off x="6291923" y="1239927"/>
            <a:ext cx="4971824" cy="46805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Questa esperienza PCTO mi ha dato: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Un nuovo approccio al problem solving</a:t>
            </a:r>
            <a:r>
              <a:rPr lang="en-US" sz="1800"/>
              <a:t>: ho imparato a declinare la teoria in casi concreti, pur restando nel contesto scolastico.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Confidenza con strumenti avanzati</a:t>
            </a:r>
            <a:r>
              <a:rPr lang="en-US" sz="1800"/>
              <a:t>: dai PLC ai sistemi SCADA, mi sento ora più sicuro nel gestire tecnologie complesse.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Spinta all’autonomia di apprendimento</a:t>
            </a:r>
            <a:r>
              <a:rPr lang="en-US" sz="1800"/>
              <a:t>: seguire riunioni tecniche e corsi online mi ha insegnato a orientarmi in un mondo di conoscenze sempre in evoluzione.</a:t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tenei: quattro università milanesi tra le 50 migliori al mondo – Cluster  Lombardo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676" y="788310"/>
            <a:ext cx="3874124" cy="2314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ta Murale Mondo Fisica+Politica Manifattura Del Tigullio – Cartolibreria  Santacatterina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676" y="3625423"/>
            <a:ext cx="3874124" cy="256660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/>
          <p:nvPr>
            <p:ph type="title"/>
          </p:nvPr>
        </p:nvSpPr>
        <p:spPr>
          <a:xfrm>
            <a:off x="5320516" y="916494"/>
            <a:ext cx="3500475" cy="6189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000"/>
              <a:t>IL MIO FUTURO</a:t>
            </a:r>
            <a:endParaRPr/>
          </a:p>
        </p:txBody>
      </p:sp>
      <p:sp>
        <p:nvSpPr>
          <p:cNvPr id="220" name="Google Shape;220;p20"/>
          <p:cNvSpPr txBox="1"/>
          <p:nvPr>
            <p:ph idx="1" type="body"/>
          </p:nvPr>
        </p:nvSpPr>
        <p:spPr>
          <a:xfrm>
            <a:off x="5320517" y="1629229"/>
            <a:ext cx="4505654" cy="4005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/>
              <a:t>" Riflettendo sul mio futuro, sono determinato a proseguire il mio percorso accademico in Italia, dove credo di poter accedere a opportunità di formazione e crescita più in linea con le mie aspirazioni. </a:t>
            </a:r>
            <a:endParaRPr sz="18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/>
              <a:t>Nonostante il mio attuale percorso di studi informatico, non escludo la possibilità di orientarmi verso un indirizzo economico, riconoscendo l'importanza di un approccio multidisciplinare in un mondo sempre più interconnesso. </a:t>
            </a:r>
            <a:endParaRPr sz="32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/>
              <a:t>Qualunque sarà la mia scelta definitiva, sono certo che questa mi consentirà di acquisire competenze fondamentali per affrontare con successo le sfide future e realizzare i miei obiettivi professionali. “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